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embeddedFontLst>
    <p:embeddedFont>
      <p:font typeface="Inter Medium"/>
      <p:regular r:id="rId201314"/>
    </p:embeddedFont>
    <p:embeddedFont>
      <p:font typeface="Inter Light"/>
      <p:regular r:id="rId201315"/>
    </p:embeddedFont>
    <p:embeddedFont>
      <p:font typeface="Inter Thin"/>
      <p:regular r:id="rId201316"/>
    </p:embeddedFont>
    <p:embeddedFont>
      <p:font typeface="Inter ExtraLight"/>
      <p:regular r:id="rId201317"/>
    </p:embeddedFont>
    <p:embeddedFont>
      <p:font typeface="Inter SemiBold"/>
      <p:regular r:id="rId201318"/>
    </p:embeddedFont>
    <p:embeddedFont>
      <p:font typeface="Inter Bold"/>
      <p:regular r:id="rId201319"/>
    </p:embeddedFont>
    <p:embeddedFont>
      <p:font typeface="Inter ExtraBold"/>
      <p:regular r:id="rId201320"/>
    </p:embeddedFont>
    <p:embeddedFont>
      <p:font typeface="Inter"/>
      <p:regular r:id="rId201321"/>
    </p:embeddedFont>
    <p:embeddedFont>
      <p:font typeface="Inter Black"/>
      <p:regular r:id="rId201322"/>
    </p:embeddedFont>
    <p:embeddedFont>
      <p:font typeface="Manrope ExtraLight"/>
      <p:regular r:id="rId201323"/>
    </p:embeddedFont>
    <p:embeddedFont>
      <p:font typeface="Manrope Light"/>
      <p:regular r:id="rId201324"/>
    </p:embeddedFont>
    <p:embeddedFont>
      <p:font typeface="Manrope"/>
      <p:regular r:id="rId201325"/>
    </p:embeddedFont>
    <p:embeddedFont>
      <p:font typeface="Manrope Medium"/>
      <p:regular r:id="rId201326"/>
    </p:embeddedFont>
    <p:embeddedFont>
      <p:font typeface="Manrope SemiBold"/>
      <p:regular r:id="rId201327"/>
    </p:embeddedFont>
    <p:embeddedFont>
      <p:font typeface="Manrope Bold"/>
      <p:regular r:id="rId201328"/>
    </p:embeddedFont>
    <p:embeddedFont>
      <p:font typeface="Manrope ExtraBold"/>
      <p:regular r:id="rId20132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Relationship Id="rId201316" Target="fonts/201316.fntdata" Type="http://schemas.openxmlformats.org/officeDocument/2006/relationships/font"/><Relationship Id="rId201317" Target="fonts/201317.fntdata" Type="http://schemas.openxmlformats.org/officeDocument/2006/relationships/font"/><Relationship Id="rId201318" Target="fonts/201318.fntdata" Type="http://schemas.openxmlformats.org/officeDocument/2006/relationships/font"/><Relationship Id="rId201319" Target="fonts/201319.fntdata" Type="http://schemas.openxmlformats.org/officeDocument/2006/relationships/font"/><Relationship Id="rId201320" Target="fonts/201320.fntdata" Type="http://schemas.openxmlformats.org/officeDocument/2006/relationships/font"/><Relationship Id="rId201321" Target="fonts/201321.fntdata" Type="http://schemas.openxmlformats.org/officeDocument/2006/relationships/font"/><Relationship Id="rId201322" Target="fonts/201322.fntdata" Type="http://schemas.openxmlformats.org/officeDocument/2006/relationships/font"/><Relationship Id="rId201323" Target="fonts/201323.fntdata" Type="http://schemas.openxmlformats.org/officeDocument/2006/relationships/font"/><Relationship Id="rId201324" Target="fonts/201324.fntdata" Type="http://schemas.openxmlformats.org/officeDocument/2006/relationships/font"/><Relationship Id="rId201325" Target="fonts/201325.fntdata" Type="http://schemas.openxmlformats.org/officeDocument/2006/relationships/font"/><Relationship Id="rId201326" Target="fonts/201326.fntdata" Type="http://schemas.openxmlformats.org/officeDocument/2006/relationships/font"/><Relationship Id="rId201327" Target="fonts/201327.fntdata" Type="http://schemas.openxmlformats.org/officeDocument/2006/relationships/font"/><Relationship Id="rId201328" Target="fonts/201328.fntdata" Type="http://schemas.openxmlformats.org/officeDocument/2006/relationships/font"/><Relationship Id="rId201329" Target="fonts/201329.fntdata" Type="http://schemas.openxmlformats.org/officeDocument/2006/relationships/font"/><Relationship Id="rId201330" Target="fonts/201330.fntdata" Type="http://schemas.openxmlformats.org/officeDocument/2006/relationships/font"/><Relationship Id="rId201331" Target="fonts/201331.fntdata" Type="http://schemas.openxmlformats.org/officeDocument/2006/relationships/font"/><Relationship Id="rId201332" Target="fonts/201332.fntdata" Type="http://schemas.openxmlformats.org/officeDocument/2006/relationships/font"/><Relationship Id="rId201333" Target="fonts/201333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1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0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svg"/><Relationship Id="rId4" Type="http://schemas.openxmlformats.org/officeDocument/2006/relationships/image" Target="../media/image-3-2.png"/><Relationship Id="rId5" Type="http://schemas.openxmlformats.org/officeDocument/2006/relationships/image" Target="../media/image-3-3.sv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svg"/><Relationship Id="rId4" Type="http://schemas.openxmlformats.org/officeDocument/2006/relationships/image" Target="../media/image-8-2.png"/><Relationship Id="rId5" Type="http://schemas.openxmlformats.org/officeDocument/2006/relationships/image" Target="../media/image-8-3.sv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0" y="0"/>
            <a:ext cx="3429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5842" y="106263"/>
            <a:ext cx="3287316" cy="493097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96119" y="1715914"/>
            <a:ext cx="4722763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Behaviour Analysis</a:t>
            </a:r>
            <a:endParaRPr lang="en-US" sz="2750" dirty="0"/>
          </a:p>
        </p:txBody>
      </p:sp>
      <p:sp>
        <p:nvSpPr>
          <p:cNvPr id="5" name="Text 2"/>
          <p:cNvSpPr/>
          <p:nvPr/>
        </p:nvSpPr>
        <p:spPr>
          <a:xfrm>
            <a:off x="496119" y="2814489"/>
            <a:ext cx="4722763" cy="613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3000"/>
              </a:lnSpc>
              <a:spcAft>
                <a:spcPts val="1250"/>
              </a:spcAft>
              <a:buNone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Data project — Python, MySQL, Power BI</a:t>
            </a:r>
            <a:endParaRPr lang="en-US" sz="11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Prepared by: Anisa Shaikh · 7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29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42" y="106263"/>
            <a:ext cx="3287316" cy="493097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925119" y="898401"/>
            <a:ext cx="4722763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Problem &amp; Objectives</a:t>
            </a:r>
            <a:endParaRPr lang="en-US" sz="2750" dirty="0"/>
          </a:p>
        </p:txBody>
      </p:sp>
      <p:sp>
        <p:nvSpPr>
          <p:cNvPr id="5" name="Shape 2"/>
          <p:cNvSpPr/>
          <p:nvPr/>
        </p:nvSpPr>
        <p:spPr>
          <a:xfrm>
            <a:off x="3925119" y="1996976"/>
            <a:ext cx="2290465" cy="1279996"/>
          </a:xfrm>
          <a:prstGeom prst="roundRect">
            <a:avLst>
              <a:gd name="adj" fmla="val 9968"/>
            </a:avLst>
          </a:prstGeom>
          <a:solidFill>
            <a:srgbClr val="FFFFFF"/>
          </a:solidFill>
          <a:ln w="4763">
            <a:solidFill>
              <a:srgbClr val="FF704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071640" y="2143497"/>
            <a:ext cx="19974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Problem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071640" y="2450009"/>
            <a:ext cx="1997422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Large volumes of transaction data; insights hidden without analysis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357342" y="1996976"/>
            <a:ext cx="2290539" cy="1279996"/>
          </a:xfrm>
          <a:prstGeom prst="roundRect">
            <a:avLst>
              <a:gd name="adj" fmla="val 9968"/>
            </a:avLst>
          </a:prstGeom>
          <a:solidFill>
            <a:srgbClr val="FFFFFF"/>
          </a:solidFill>
          <a:ln w="4763">
            <a:solidFill>
              <a:srgbClr val="FF704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03863" y="2143497"/>
            <a:ext cx="1997497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Objectives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503863" y="2450009"/>
            <a:ext cx="1997497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Analyse behaviour · Identify top categories · Evaluate spending &amp; subscriptions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925119" y="3418731"/>
            <a:ext cx="4722763" cy="826368"/>
          </a:xfrm>
          <a:prstGeom prst="roundRect">
            <a:avLst>
              <a:gd name="adj" fmla="val 15440"/>
            </a:avLst>
          </a:prstGeom>
          <a:solidFill>
            <a:srgbClr val="FFFFFF"/>
          </a:solidFill>
          <a:ln w="4763">
            <a:solidFill>
              <a:srgbClr val="FF704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071640" y="3565252"/>
            <a:ext cx="4429720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071640" y="3871764"/>
            <a:ext cx="4429720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Interactive business dashboard · Actionable insights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0" y="0"/>
            <a:ext cx="3429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5842" y="106263"/>
            <a:ext cx="3287316" cy="493097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96119" y="1368177"/>
            <a:ext cx="4722763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Insight: Clothing Leads Revenue</a:t>
            </a:r>
            <a:endParaRPr lang="en-US" sz="27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119" y="2466752"/>
            <a:ext cx="2290465" cy="1308571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33127" y="2627561"/>
            <a:ext cx="1892647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Revenue Leader</a:t>
            </a:r>
            <a:endParaRPr lang="en-US" sz="1350" dirty="0"/>
          </a:p>
        </p:txBody>
      </p:sp>
      <p:sp>
        <p:nvSpPr>
          <p:cNvPr id="7" name="Text 3"/>
          <p:cNvSpPr/>
          <p:nvPr/>
        </p:nvSpPr>
        <p:spPr>
          <a:xfrm>
            <a:off x="733127" y="2934072"/>
            <a:ext cx="1892647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Clothing: highest revenue &amp; sales volume</a:t>
            </a:r>
            <a:endParaRPr lang="en-US" sz="11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28342" y="2466752"/>
            <a:ext cx="2290539" cy="1308571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165351" y="2627561"/>
            <a:ext cx="18927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Impact</a:t>
            </a:r>
            <a:endParaRPr lang="en-US" sz="1350" dirty="0"/>
          </a:p>
        </p:txBody>
      </p:sp>
      <p:sp>
        <p:nvSpPr>
          <p:cNvPr id="10" name="Text 5"/>
          <p:cNvSpPr/>
          <p:nvPr/>
        </p:nvSpPr>
        <p:spPr>
          <a:xfrm>
            <a:off x="3165351" y="2934072"/>
            <a:ext cx="1892722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 clothing strategic: inventory, expand lines, focused marketing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119" y="1254026"/>
            <a:ext cx="2635300" cy="26353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71193" y="555947"/>
            <a:ext cx="5181377" cy="429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0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Audience: Young Adults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3471193" y="1118071"/>
            <a:ext cx="5638577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0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Largest share of revenue · higher engagement &amp; spending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3471193" y="1484040"/>
            <a:ext cx="5181377" cy="524396"/>
          </a:xfrm>
          <a:prstGeom prst="roundRect">
            <a:avLst>
              <a:gd name="adj" fmla="val 23571"/>
            </a:avLst>
          </a:prstGeom>
          <a:solidFill>
            <a:srgbClr val="FFD7CC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8487" y="1692622"/>
            <a:ext cx="171599" cy="13729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917379" y="1638077"/>
            <a:ext cx="5055096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Target marketing to this demographic</a:t>
            </a:r>
            <a:endParaRPr lang="en-US" sz="10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71193" y="2158082"/>
            <a:ext cx="343272" cy="34327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471193" y="2667595"/>
            <a:ext cx="5181377" cy="214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Promotions</a:t>
            </a:r>
            <a:endParaRPr lang="en-US" sz="1350" dirty="0"/>
          </a:p>
        </p:txBody>
      </p:sp>
      <p:sp>
        <p:nvSpPr>
          <p:cNvPr id="10" name="Text 5"/>
          <p:cNvSpPr/>
          <p:nvPr/>
        </p:nvSpPr>
        <p:spPr>
          <a:xfrm>
            <a:off x="3471193" y="3015109"/>
            <a:ext cx="5181377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0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Personalized offers &amp; digital ads</a:t>
            </a:r>
            <a:endParaRPr lang="en-US" sz="105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471193" y="3497461"/>
            <a:ext cx="343272" cy="343272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3471193" y="4006974"/>
            <a:ext cx="5181377" cy="214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Loyalty</a:t>
            </a:r>
            <a:endParaRPr lang="en-US" sz="1350" dirty="0"/>
          </a:p>
        </p:txBody>
      </p:sp>
      <p:sp>
        <p:nvSpPr>
          <p:cNvPr id="13" name="Text 7"/>
          <p:cNvSpPr/>
          <p:nvPr/>
        </p:nvSpPr>
        <p:spPr>
          <a:xfrm>
            <a:off x="3471193" y="4354488"/>
            <a:ext cx="5181377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0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Rewards to boost retention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29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42" y="106263"/>
            <a:ext cx="3287316" cy="493097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925119" y="1233264"/>
            <a:ext cx="472276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Spending Patterns</a:t>
            </a:r>
            <a:endParaRPr lang="en-US" sz="2750" dirty="0"/>
          </a:p>
        </p:txBody>
      </p:sp>
      <p:sp>
        <p:nvSpPr>
          <p:cNvPr id="5" name="Shape 2"/>
          <p:cNvSpPr/>
          <p:nvPr/>
        </p:nvSpPr>
        <p:spPr>
          <a:xfrm>
            <a:off x="3925119" y="1888852"/>
            <a:ext cx="4722763" cy="826368"/>
          </a:xfrm>
          <a:prstGeom prst="roundRect">
            <a:avLst>
              <a:gd name="adj" fmla="val 15440"/>
            </a:avLst>
          </a:prstGeom>
          <a:solidFill>
            <a:srgbClr val="FFFFFF"/>
          </a:solidFill>
          <a:ln w="4763">
            <a:solidFill>
              <a:srgbClr val="FF704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071640" y="2035373"/>
            <a:ext cx="4429720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Average Basket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071640" y="2341885"/>
            <a:ext cx="4429720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$59.8 average purchase — stable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925119" y="2856979"/>
            <a:ext cx="4722763" cy="1053182"/>
          </a:xfrm>
          <a:prstGeom prst="roundRect">
            <a:avLst>
              <a:gd name="adj" fmla="val 12115"/>
            </a:avLst>
          </a:prstGeom>
          <a:solidFill>
            <a:srgbClr val="FFFFFF"/>
          </a:solidFill>
          <a:ln w="4763">
            <a:solidFill>
              <a:srgbClr val="FF704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071640" y="3003500"/>
            <a:ext cx="4429720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Strategy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071640" y="3310012"/>
            <a:ext cx="4429720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Increase purchase frequency: cross-sell, bundles, recommendations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0" y="0"/>
            <a:ext cx="3429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5842" y="106263"/>
            <a:ext cx="3287316" cy="493097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96119" y="1124992"/>
            <a:ext cx="472276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Satisfaction</a:t>
            </a:r>
            <a:endParaRPr lang="en-US" sz="2750" dirty="0"/>
          </a:p>
        </p:txBody>
      </p:sp>
      <p:sp>
        <p:nvSpPr>
          <p:cNvPr id="5" name="Text 2"/>
          <p:cNvSpPr/>
          <p:nvPr/>
        </p:nvSpPr>
        <p:spPr>
          <a:xfrm>
            <a:off x="496119" y="1780580"/>
            <a:ext cx="517996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Average rating 3.75 / 5 — generally positive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96119" y="2166863"/>
            <a:ext cx="4722763" cy="854943"/>
          </a:xfrm>
          <a:prstGeom prst="roundRect">
            <a:avLst>
              <a:gd name="adj" fmla="val 14924"/>
            </a:avLst>
          </a:prstGeom>
          <a:solidFill>
            <a:srgbClr val="FFFFFF"/>
          </a:solidFill>
          <a:ln w="19050">
            <a:solidFill>
              <a:srgbClr val="FF704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6927" y="2327672"/>
            <a:ext cx="440114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Opportunity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56927" y="2634183"/>
            <a:ext cx="4401145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Address low-rated products &amp; service issues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96119" y="3163565"/>
            <a:ext cx="4722763" cy="854943"/>
          </a:xfrm>
          <a:prstGeom prst="roundRect">
            <a:avLst>
              <a:gd name="adj" fmla="val 14924"/>
            </a:avLst>
          </a:prstGeom>
          <a:solidFill>
            <a:srgbClr val="FFFFFF"/>
          </a:solidFill>
          <a:ln w="19050">
            <a:solidFill>
              <a:srgbClr val="FF704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6927" y="3324374"/>
            <a:ext cx="440114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6927" y="3630885"/>
            <a:ext cx="4401145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Improved retention &amp; repeat purchases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119" y="1045146"/>
            <a:ext cx="3053135" cy="305313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99892" y="1183481"/>
            <a:ext cx="4752677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Segmentation</a:t>
            </a:r>
            <a:endParaRPr lang="en-US" sz="2750" dirty="0"/>
          </a:p>
        </p:txBody>
      </p:sp>
      <p:sp>
        <p:nvSpPr>
          <p:cNvPr id="4" name="Text 1"/>
          <p:cNvSpPr/>
          <p:nvPr/>
        </p:nvSpPr>
        <p:spPr>
          <a:xfrm>
            <a:off x="3899892" y="1768227"/>
            <a:ext cx="5209877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New · Returning · Loyal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3899892" y="2154510"/>
            <a:ext cx="318939" cy="318939"/>
          </a:xfrm>
          <a:prstGeom prst="roundRect">
            <a:avLst>
              <a:gd name="adj" fmla="val 40005"/>
            </a:avLst>
          </a:prstGeom>
          <a:solidFill>
            <a:srgbClr val="FFFFFF"/>
          </a:solidFill>
          <a:ln w="4763">
            <a:solidFill>
              <a:srgbClr val="FF704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360590" y="2203177"/>
            <a:ext cx="1827014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360590" y="2566392"/>
            <a:ext cx="1827014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Welcome offers to drive repeat purchases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364784" y="2154510"/>
            <a:ext cx="318939" cy="318939"/>
          </a:xfrm>
          <a:prstGeom prst="roundRect">
            <a:avLst>
              <a:gd name="adj" fmla="val 40005"/>
            </a:avLst>
          </a:prstGeom>
          <a:solidFill>
            <a:srgbClr val="FFFFFF"/>
          </a:solidFill>
          <a:ln w="4763">
            <a:solidFill>
              <a:srgbClr val="FF704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25481" y="2203177"/>
            <a:ext cx="1827088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Returning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825481" y="2566392"/>
            <a:ext cx="1827088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Personalized recommendations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899892" y="3303538"/>
            <a:ext cx="318939" cy="318939"/>
          </a:xfrm>
          <a:prstGeom prst="roundRect">
            <a:avLst>
              <a:gd name="adj" fmla="val 40005"/>
            </a:avLst>
          </a:prstGeom>
          <a:solidFill>
            <a:srgbClr val="FFFFFF"/>
          </a:solidFill>
          <a:ln w="4763">
            <a:solidFill>
              <a:srgbClr val="FF704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60590" y="3352205"/>
            <a:ext cx="4291980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Loyal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360590" y="3715420"/>
            <a:ext cx="4291980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Exclusive rewards &amp; early access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29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42" y="106263"/>
            <a:ext cx="3287316" cy="493097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925119" y="1603921"/>
            <a:ext cx="472276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Subscription Analysis</a:t>
            </a:r>
            <a:endParaRPr lang="en-US" sz="27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25119" y="2259509"/>
            <a:ext cx="2290465" cy="127999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071640" y="2406030"/>
            <a:ext cx="19974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Compare Subscribers</a:t>
            </a:r>
            <a:endParaRPr lang="en-US" sz="1350" dirty="0"/>
          </a:p>
        </p:txBody>
      </p:sp>
      <p:sp>
        <p:nvSpPr>
          <p:cNvPr id="7" name="Text 3"/>
          <p:cNvSpPr/>
          <p:nvPr/>
        </p:nvSpPr>
        <p:spPr>
          <a:xfrm>
            <a:off x="4071640" y="2712541"/>
            <a:ext cx="1997422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SQL compares subscribed vs non-subscribed purchasing behaviour</a:t>
            </a:r>
            <a:endParaRPr lang="en-US" sz="11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57342" y="2259509"/>
            <a:ext cx="2290539" cy="127999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503863" y="2406030"/>
            <a:ext cx="1997497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Recommendation</a:t>
            </a:r>
            <a:endParaRPr lang="en-US" sz="1350" dirty="0"/>
          </a:p>
        </p:txBody>
      </p:sp>
      <p:sp>
        <p:nvSpPr>
          <p:cNvPr id="10" name="Text 5"/>
          <p:cNvSpPr/>
          <p:nvPr/>
        </p:nvSpPr>
        <p:spPr>
          <a:xfrm>
            <a:off x="6503863" y="2712541"/>
            <a:ext cx="1997497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If subscribers buy more → expand benefits; otherwise redesign incentives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119" y="1257598"/>
            <a:ext cx="2628230" cy="262823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74988" y="1739801"/>
            <a:ext cx="5177582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&amp; Discount Insights</a:t>
            </a:r>
            <a:endParaRPr lang="en-US" sz="275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988" y="2342257"/>
            <a:ext cx="549994" cy="54999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202162" y="2342257"/>
            <a:ext cx="1772989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Sellers</a:t>
            </a:r>
            <a:endParaRPr lang="en-US" sz="1350" dirty="0"/>
          </a:p>
        </p:txBody>
      </p:sp>
      <p:sp>
        <p:nvSpPr>
          <p:cNvPr id="6" name="Text 2"/>
          <p:cNvSpPr/>
          <p:nvPr/>
        </p:nvSpPr>
        <p:spPr>
          <a:xfrm>
            <a:off x="4202162" y="2705472"/>
            <a:ext cx="1772989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Allocate inventory &amp; promote high-rated, high-selling items</a:t>
            </a:r>
            <a:endParaRPr lang="en-US" sz="11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2331" y="2342257"/>
            <a:ext cx="549994" cy="549994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879506" y="2342257"/>
            <a:ext cx="1773064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Discount Effects</a:t>
            </a:r>
            <a:endParaRPr lang="en-US" sz="1350" dirty="0"/>
          </a:p>
        </p:txBody>
      </p:sp>
      <p:sp>
        <p:nvSpPr>
          <p:cNvPr id="9" name="Text 4"/>
          <p:cNvSpPr/>
          <p:nvPr/>
        </p:nvSpPr>
        <p:spPr>
          <a:xfrm>
            <a:off x="6879506" y="2705472"/>
            <a:ext cx="1773064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Measure if discounts drive sales or cut margins; target effective promos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0" y="0"/>
            <a:ext cx="3429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5842" y="106263"/>
            <a:ext cx="3287316" cy="493097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96119" y="564207"/>
            <a:ext cx="4722763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Shipping &amp; Final Recommendations</a:t>
            </a:r>
            <a:endParaRPr lang="en-US" sz="2750" dirty="0"/>
          </a:p>
        </p:txBody>
      </p:sp>
      <p:sp>
        <p:nvSpPr>
          <p:cNvPr id="5" name="Text 2"/>
          <p:cNvSpPr/>
          <p:nvPr/>
        </p:nvSpPr>
        <p:spPr>
          <a:xfrm>
            <a:off x="496119" y="1804541"/>
            <a:ext cx="218844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Shipping Preferences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496119" y="2167756"/>
            <a:ext cx="2188443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Compare average purchase by shipping method to optimize logistics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3035201" y="1804541"/>
            <a:ext cx="2188443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Recommendations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3035201" y="2389212"/>
            <a:ext cx="2188443" cy="21404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23520" indent="-22352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Focus investment on high-performing categories (Clothing)</a:t>
            </a:r>
            <a:endParaRPr lang="en-US" sz="1100" dirty="0"/>
          </a:p>
          <a:p>
            <a:pPr algn="l" marL="223520" indent="-22352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Improve inventory availability &amp; marketing for those categories</a:t>
            </a:r>
            <a:endParaRPr lang="en-US" sz="1100" dirty="0"/>
          </a:p>
          <a:p>
            <a:pPr algn="l" marL="223520" indent="-22352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Leverage segmentation, subscriptions, and promo analysis to grow revenue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2026-07-07T20:08:24Z</dcterms:created>
  <dcterms:modified xsi:type="dcterms:W3CDTF">2026-07-07T20:08:24Z</dcterms:modified>
</cp:coreProperties>
</file>